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OG/PO Subset RNA Velocity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DDDDEE"/>
                </a:solidFill>
              </a:rPr>
              <a:t>All figures from figures_og_exact/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AAABB"/>
                </a:solidFill>
              </a:rPr>
              <a:t>SutureRNAVelocity | GSE163693 | E17.5 OG1–4 + PO1–2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cr_diff_vector_field.png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Coarse-grained differentiation vector field (net flux)</a:t>
            </a:r>
          </a:p>
        </p:txBody>
      </p:sp>
      <p:pic>
        <p:nvPicPr>
          <p:cNvPr id="5" name="Picture 4" descr="cr_diff_vector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052" y="1097280"/>
            <a:ext cx="6448846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figures_og_exact/cr_diff_vector_field.png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cr_fate_heatmap.png</a:t>
            </a:r>
          </a:p>
        </p:txBody>
      </p:sp>
      <p:pic>
        <p:nvPicPr>
          <p:cNvPr id="4" name="Picture 3" descr="cr_fat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119" y="1097280"/>
            <a:ext cx="6330712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figures_og_exact/cr_fate_heatmap.png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cr_fate_probabilities.png</a:t>
            </a:r>
          </a:p>
        </p:txBody>
      </p:sp>
      <p:pic>
        <p:nvPicPr>
          <p:cNvPr id="4" name="Picture 3" descr="cr_fate_probabi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1333"/>
            <a:ext cx="11274552" cy="44954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figures_og_exact/cr_fate_probabilities.png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cr_initial_terminal.png</a:t>
            </a:r>
          </a:p>
        </p:txBody>
      </p:sp>
      <p:pic>
        <p:nvPicPr>
          <p:cNvPr id="4" name="Picture 3" descr="cr_initial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0966"/>
            <a:ext cx="11274552" cy="46361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figures_og_exact/cr_initial_terminal.png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cr_macrostates.png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CellRank GPCCA macrostates</a:t>
            </a:r>
          </a:p>
        </p:txBody>
      </p:sp>
      <p:pic>
        <p:nvPicPr>
          <p:cNvPr id="5" name="Picture 4" descr="cr_macro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735" y="1097280"/>
            <a:ext cx="5361481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figures_og_exact/cr_macrostates.png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latent_time.png</a:t>
            </a:r>
          </a:p>
        </p:txBody>
      </p:sp>
      <p:pic>
        <p:nvPicPr>
          <p:cNvPr id="4" name="Picture 3" descr="latent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697" y="1097280"/>
            <a:ext cx="6791557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figures_og_exact/latent_time.png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local_grid_velocity.png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Local grid velocity at different densities</a:t>
            </a:r>
          </a:p>
        </p:txBody>
      </p:sp>
      <p:pic>
        <p:nvPicPr>
          <p:cNvPr id="5" name="Picture 4" descr="local_grid_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07974"/>
            <a:ext cx="11274552" cy="3082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figures_og_exact/local_grid_velocity.png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local_per_cluster_stream.png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Local velocity around each OG/PO cluster</a:t>
            </a:r>
          </a:p>
        </p:txBody>
      </p:sp>
      <p:pic>
        <p:nvPicPr>
          <p:cNvPr id="5" name="Picture 4" descr="local_per_cluster_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648" y="1097280"/>
            <a:ext cx="9595654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figures_og_exact/local_per_cluster_stream.png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local_phase_portraits.png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Phase portraits (spliced vs unspliced) for top genes</a:t>
            </a:r>
          </a:p>
        </p:txBody>
      </p:sp>
      <p:pic>
        <p:nvPicPr>
          <p:cNvPr id="5" name="Picture 4" descr="local_phase_portra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467" y="1097280"/>
            <a:ext cx="7988017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figures_og_exact/local_phase_portraits.png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local_smooth_compare.png</a:t>
            </a:r>
          </a:p>
        </p:txBody>
      </p:sp>
      <p:pic>
        <p:nvPicPr>
          <p:cNvPr id="4" name="Picture 3" descr="local_smooth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07974"/>
            <a:ext cx="11274552" cy="30821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figures_og_exact/local_smooth_compare.png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local_velocity_confidence.png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Velocity confidence per cell and per cluster</a:t>
            </a:r>
          </a:p>
        </p:txBody>
      </p:sp>
      <p:pic>
        <p:nvPicPr>
          <p:cNvPr id="5" name="Picture 4" descr="local_velocity_conf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9915"/>
            <a:ext cx="11274552" cy="4598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figures_og_exact/local_velocity_confidence.png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noroot_stream.png</a:t>
            </a:r>
          </a:p>
        </p:txBody>
      </p:sp>
      <p:pic>
        <p:nvPicPr>
          <p:cNvPr id="4" name="Picture 3" descr="noroot_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779" y="1097280"/>
            <a:ext cx="6707392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figures_og_exact/noroot_stream.png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og_cellcycle_fraction.png</a:t>
            </a:r>
          </a:p>
        </p:txBody>
      </p:sp>
      <p:pic>
        <p:nvPicPr>
          <p:cNvPr id="4" name="Picture 3" descr="og_cellcycle_f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96" y="1097280"/>
            <a:ext cx="928116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figures_og_exact/og_cellcycle_fraction.png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og_latent_time_hist.png</a:t>
            </a:r>
          </a:p>
        </p:txBody>
      </p:sp>
      <p:pic>
        <p:nvPicPr>
          <p:cNvPr id="4" name="Picture 3" descr="og_latent_tim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96" y="1097280"/>
            <a:ext cx="928116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figures_og_exact/og_latent_time_hist.png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og_paga_graph.png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PAGA topology graph between OG/PO clusters</a:t>
            </a:r>
          </a:p>
        </p:txBody>
      </p:sp>
      <p:pic>
        <p:nvPicPr>
          <p:cNvPr id="5" name="Picture 4" descr="og_paga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890" y="1097280"/>
            <a:ext cx="534717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figures_og_exact/og_paga_graph.png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pca_grid.png</a:t>
            </a:r>
          </a:p>
        </p:txBody>
      </p:sp>
      <p:pic>
        <p:nvPicPr>
          <p:cNvPr id="4" name="Picture 3" descr="pca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779" y="1097280"/>
            <a:ext cx="6707392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figures_og_exact/pca_grid.png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pca_stream.png</a:t>
            </a:r>
          </a:p>
        </p:txBody>
      </p:sp>
      <p:pic>
        <p:nvPicPr>
          <p:cNvPr id="4" name="Picture 3" descr="pca_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334" y="1097280"/>
            <a:ext cx="6454283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figures_og_exact/pca_stream.png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proportions.png</a:t>
            </a:r>
          </a:p>
        </p:txBody>
      </p:sp>
      <p:pic>
        <p:nvPicPr>
          <p:cNvPr id="4" name="Picture 3" descr="propor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59271"/>
            <a:ext cx="11274552" cy="3779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figures_og_exact/proportions.png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umap_og_cellcycle.png</a:t>
            </a:r>
          </a:p>
        </p:txBody>
      </p:sp>
      <p:pic>
        <p:nvPicPr>
          <p:cNvPr id="4" name="Picture 3" descr="umap_og_cell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963" y="1097280"/>
            <a:ext cx="7721025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figures_og_exact/umap_og_cellcycle.png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umap_og_exact_clusters.png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UMAP of OG1–4 + PO1–2 subset (cluster colors)</a:t>
            </a:r>
          </a:p>
        </p:txBody>
      </p:sp>
      <p:pic>
        <p:nvPicPr>
          <p:cNvPr id="5" name="Picture 4" descr="umap_og_exact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21" y="1097280"/>
            <a:ext cx="7666108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figures_og_exact/umap_og_exact_clusters.png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umap_og_in_full_umap.png</a:t>
            </a:r>
          </a:p>
        </p:txBody>
      </p:sp>
      <p:pic>
        <p:nvPicPr>
          <p:cNvPr id="4" name="Picture 3" descr="umap_og_in_full_u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506" y="1097280"/>
            <a:ext cx="7739939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figures_og_exact/umap_og_in_full_umap.png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velocity_arrows.png</a:t>
            </a:r>
          </a:p>
        </p:txBody>
      </p:sp>
      <p:pic>
        <p:nvPicPr>
          <p:cNvPr id="4" name="Picture 3" descr="velocity_arr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278" y="1097280"/>
            <a:ext cx="6694394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figures_og_exact/velocity_arrows.png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velocity_stream.png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RNA velocity stream on OG/PO UMAP</a:t>
            </a:r>
          </a:p>
        </p:txBody>
      </p:sp>
      <p:pic>
        <p:nvPicPr>
          <p:cNvPr id="5" name="Picture 4" descr="velocity_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278" y="1097280"/>
            <a:ext cx="6694394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figures_og_exact/velocity_stream.png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