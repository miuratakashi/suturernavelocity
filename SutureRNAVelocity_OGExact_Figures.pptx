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OG/PO Subset RNA Velocity Figures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66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DDDDEE"/>
                </a:solidFill>
              </a:rPr>
              <a:t>All figures from figures_og_exact/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AAAABB"/>
                </a:solidFill>
              </a:rPr>
              <a:t>SutureRNAVelocity | GSE163693 | E17.5 OG1–4 + PO1–2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cr_diff_vector_field.png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Coarse-grained differentiation vector field (net flux)</a:t>
            </a:r>
          </a:p>
        </p:txBody>
      </p:sp>
      <p:pic>
        <p:nvPicPr>
          <p:cNvPr id="5" name="Picture 4" descr="cr_diff_vector_f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0052" y="1097280"/>
            <a:ext cx="6448846" cy="5303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figures_og_exact/cr_diff_vector_field.png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cr_fate_heatmap.png</a:t>
            </a:r>
          </a:p>
        </p:txBody>
      </p:sp>
      <p:pic>
        <p:nvPicPr>
          <p:cNvPr id="4" name="Picture 3" descr="cr_fat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9119" y="1097280"/>
            <a:ext cx="6330712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figures_og_exact/cr_fate_heatmap.png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cr_fate_probabilities.png</a:t>
            </a:r>
          </a:p>
        </p:txBody>
      </p:sp>
      <p:pic>
        <p:nvPicPr>
          <p:cNvPr id="4" name="Picture 3" descr="cr_fate_probabilit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01333"/>
            <a:ext cx="11274552" cy="44954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figures_og_exact/cr_fate_probabilities.png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cr_initial_terminal.png</a:t>
            </a:r>
          </a:p>
        </p:txBody>
      </p:sp>
      <p:pic>
        <p:nvPicPr>
          <p:cNvPr id="4" name="Picture 3" descr="cr_initial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30966"/>
            <a:ext cx="11274552" cy="46361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figures_og_exact/cr_initial_terminal.png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cr_macrostates.png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CellRank GPCCA macrostates</a:t>
            </a:r>
          </a:p>
        </p:txBody>
      </p:sp>
      <p:pic>
        <p:nvPicPr>
          <p:cNvPr id="5" name="Picture 4" descr="cr_macrost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0779" y="1097280"/>
            <a:ext cx="6707392" cy="5303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figures_og_exact/cr_macrostates.png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latent_time.png</a:t>
            </a:r>
          </a:p>
        </p:txBody>
      </p:sp>
      <p:pic>
        <p:nvPicPr>
          <p:cNvPr id="4" name="Picture 3" descr="latent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8697" y="1097280"/>
            <a:ext cx="6791557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figures_og_exact/latent_time.png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local_grid_velocity.png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Local grid velocity at different densities</a:t>
            </a:r>
          </a:p>
        </p:txBody>
      </p:sp>
      <p:pic>
        <p:nvPicPr>
          <p:cNvPr id="5" name="Picture 4" descr="local_grid_velo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07974"/>
            <a:ext cx="11274552" cy="3082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figures_og_exact/local_grid_velocity.png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local_per_cluster_stream.png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Local velocity around each OG/PO cluster</a:t>
            </a:r>
          </a:p>
        </p:txBody>
      </p:sp>
      <p:pic>
        <p:nvPicPr>
          <p:cNvPr id="5" name="Picture 4" descr="local_per_cluster_st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7042" y="1097280"/>
            <a:ext cx="6194867" cy="5303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figures_og_exact/local_per_cluster_stream.png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local_phase_portraits.png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Phase portraits (spliced vs unspliced) for top genes</a:t>
            </a:r>
          </a:p>
        </p:txBody>
      </p:sp>
      <p:pic>
        <p:nvPicPr>
          <p:cNvPr id="5" name="Picture 4" descr="local_phase_portra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0467" y="1097280"/>
            <a:ext cx="7988017" cy="5303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figures_og_exact/local_phase_portraits.png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local_smooth_compare.png</a:t>
            </a:r>
          </a:p>
        </p:txBody>
      </p:sp>
      <p:pic>
        <p:nvPicPr>
          <p:cNvPr id="4" name="Picture 3" descr="local_smooth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07974"/>
            <a:ext cx="11274552" cy="30821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figures_og_exact/local_smooth_compare.png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local_velocity_confidence.png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Velocity confidence per cell and per cluster</a:t>
            </a:r>
          </a:p>
        </p:txBody>
      </p:sp>
      <p:pic>
        <p:nvPicPr>
          <p:cNvPr id="5" name="Picture 4" descr="local_velocity_conf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49915"/>
            <a:ext cx="11274552" cy="45982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figures_og_exact/local_velocity_confidence.png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noroot_stream.png</a:t>
            </a:r>
          </a:p>
        </p:txBody>
      </p:sp>
      <p:pic>
        <p:nvPicPr>
          <p:cNvPr id="4" name="Picture 3" descr="noroot_st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0779" y="1097280"/>
            <a:ext cx="6707392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figures_og_exact/noroot_stream.png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og_cellcycle_fraction.png</a:t>
            </a:r>
          </a:p>
        </p:txBody>
      </p:sp>
      <p:pic>
        <p:nvPicPr>
          <p:cNvPr id="4" name="Picture 3" descr="og_cellcycle_fr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3896" y="1097280"/>
            <a:ext cx="9281160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figures_og_exact/og_cellcycle_fraction.png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og_latent_time_hist.png</a:t>
            </a:r>
          </a:p>
        </p:txBody>
      </p:sp>
      <p:pic>
        <p:nvPicPr>
          <p:cNvPr id="4" name="Picture 3" descr="og_latent_time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3896" y="1097280"/>
            <a:ext cx="9281160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figures_og_exact/og_latent_time_hist.png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og_paga_graph.png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PAGA topology graph between OG/PO clusters</a:t>
            </a:r>
          </a:p>
        </p:txBody>
      </p:sp>
      <p:pic>
        <p:nvPicPr>
          <p:cNvPr id="5" name="Picture 4" descr="og_paga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0890" y="1097280"/>
            <a:ext cx="5347170" cy="5303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figures_og_exact/og_paga_graph.png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pca_grid.png</a:t>
            </a:r>
          </a:p>
        </p:txBody>
      </p:sp>
      <p:pic>
        <p:nvPicPr>
          <p:cNvPr id="4" name="Picture 3" descr="pca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0779" y="1097280"/>
            <a:ext cx="6707392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figures_og_exact/pca_grid.png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pca_stream.png</a:t>
            </a:r>
          </a:p>
        </p:txBody>
      </p:sp>
      <p:pic>
        <p:nvPicPr>
          <p:cNvPr id="4" name="Picture 3" descr="pca_st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7334" y="1097280"/>
            <a:ext cx="6454283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figures_og_exact/pca_stream.png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proportions.png</a:t>
            </a:r>
          </a:p>
        </p:txBody>
      </p:sp>
      <p:pic>
        <p:nvPicPr>
          <p:cNvPr id="4" name="Picture 3" descr="propor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59271"/>
            <a:ext cx="11274552" cy="37795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figures_og_exact/proportions.png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scvelo__og_exact_Mmp13_scaled.png</a:t>
            </a:r>
          </a:p>
        </p:txBody>
      </p:sp>
      <p:pic>
        <p:nvPicPr>
          <p:cNvPr id="4" name="Picture 3" descr="scvelo__og_exact_Mmp13_sca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0534" y="1097280"/>
            <a:ext cx="6807883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figures_og_exact/scvelo__og_exact_Mmp13_scaled.png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scvelo__og_exact_arrows.png</a:t>
            </a:r>
          </a:p>
        </p:txBody>
      </p:sp>
      <p:pic>
        <p:nvPicPr>
          <p:cNvPr id="4" name="Picture 3" descr="scvelo__og_exact_arr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7278" y="1097280"/>
            <a:ext cx="6694394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figures_og_exact/scvelo__og_exact_arrows.png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scvelo__og_exact_latent_time.png</a:t>
            </a:r>
          </a:p>
        </p:txBody>
      </p:sp>
      <p:pic>
        <p:nvPicPr>
          <p:cNvPr id="4" name="Picture 3" descr="scvelo__og_exact_latent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8697" y="1097280"/>
            <a:ext cx="6791557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figures_og_exact/scvelo__og_exact_latent_time.png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scvelo__og_exact_stream.png</a:t>
            </a:r>
          </a:p>
        </p:txBody>
      </p:sp>
      <p:pic>
        <p:nvPicPr>
          <p:cNvPr id="4" name="Picture 3" descr="scvelo__og_exact_st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7278" y="1097280"/>
            <a:ext cx="6694394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figures_og_exact/scvelo__og_exact_stream.png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scvelo_proportions__og_proportions.png</a:t>
            </a:r>
          </a:p>
        </p:txBody>
      </p:sp>
      <p:pic>
        <p:nvPicPr>
          <p:cNvPr id="4" name="Picture 3" descr="scvelo_proportions__og_propor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59271"/>
            <a:ext cx="11274552" cy="37795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figures_og_exact/scvelo_proportions__og_proportions.png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umap_og_cellcycle.png</a:t>
            </a:r>
          </a:p>
        </p:txBody>
      </p:sp>
      <p:pic>
        <p:nvPicPr>
          <p:cNvPr id="4" name="Picture 3" descr="umap_og_cell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3963" y="1097280"/>
            <a:ext cx="7721025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figures_og_exact/umap_og_cellcycle.png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umap_og_exact_clusters.png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UMAP of OG1–4 + PO1–2 subset (cluster colors)</a:t>
            </a:r>
          </a:p>
        </p:txBody>
      </p:sp>
      <p:pic>
        <p:nvPicPr>
          <p:cNvPr id="5" name="Picture 4" descr="umap_og_exact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1421" y="1097280"/>
            <a:ext cx="7666108" cy="5303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figures_og_exact/umap_og_exact_clusters.png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umap_og_in_full_umap.png</a:t>
            </a:r>
          </a:p>
        </p:txBody>
      </p:sp>
      <p:pic>
        <p:nvPicPr>
          <p:cNvPr id="4" name="Picture 3" descr="umap_og_in_full_u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4506" y="1097280"/>
            <a:ext cx="7739939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figures_og_exact/umap_og_in_full_umap.png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velocity_arrows.png</a:t>
            </a:r>
          </a:p>
        </p:txBody>
      </p:sp>
      <p:pic>
        <p:nvPicPr>
          <p:cNvPr id="4" name="Picture 3" descr="velocity_arr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7278" y="1097280"/>
            <a:ext cx="6694394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figures_og_exact/velocity_arrows.png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velocity_stream.png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RNA velocity stream on OG/PO UMAP</a:t>
            </a:r>
          </a:p>
        </p:txBody>
      </p:sp>
      <p:pic>
        <p:nvPicPr>
          <p:cNvPr id="5" name="Picture 4" descr="velocity_st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7278" y="1097280"/>
            <a:ext cx="6694394" cy="5303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figures_og_exact/velocity_stream.png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