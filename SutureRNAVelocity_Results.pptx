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Mouse Cranial Suture RNA Velocity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FF"/>
                </a:solidFill>
              </a:rPr>
              <a:t>Osteogenic cell differentiation and dedifferentiation trajectories in E17.5 coronal suture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Data: GSE163693  |  Farmer et al. 2021, Nature Communications  |  scVelo + CellRank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754880"/>
            <a:ext cx="822960" cy="32004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754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OG1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4754880"/>
            <a:ext cx="822960" cy="32004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754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OG2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754880"/>
            <a:ext cx="822960" cy="320040"/>
          </a:xfrm>
          <a:prstGeom prst="rect">
            <a:avLst/>
          </a:prstGeom>
          <a:solidFill>
            <a:srgbClr val="4DA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OG3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5212080"/>
            <a:ext cx="822960" cy="320040"/>
          </a:xfrm>
          <a:prstGeom prst="rect">
            <a:avLst/>
          </a:prstGeom>
          <a:solidFill>
            <a:srgbClr val="98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OG4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5212080"/>
            <a:ext cx="822960" cy="320040"/>
          </a:xfrm>
          <a:prstGeom prst="rect">
            <a:avLst/>
          </a:prstGeom>
          <a:solidFill>
            <a:srgbClr val="377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5212080"/>
            <a:ext cx="822960" cy="320040"/>
          </a:xfrm>
          <a:prstGeom prst="rect">
            <a:avLst/>
          </a:prstGeom>
          <a:solidFill>
            <a:srgbClr val="A65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7799"/>
                </a:solidFill>
              </a:rPr>
              <a:t>SutureRNAVelocity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Analysis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Farmer et al. 2021 | GSE163693 | E17.5 mouse coronal suture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234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Data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3 BAM files (SRR13288596–98) via aria2c
E17.5 coronal suture, 3 batches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1234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velocyto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7830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Spliced / Unspliced count generation
Gencode vM25 annotation (chr-prefix removed)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234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scVelo – Full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830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5,407 cells × 904 genes
Dynamical model, Leiden clustering (19 clusters)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OG/PO Subset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348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2,017 cells (OG1–4 + PO1–2) identified by metadata labels
(GSE163693_E15_17_composite_metadata.csv.gz)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840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8404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599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CellRank (GPCCA)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44348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Bidirectional trajectory analysis
Terminal: OG4 + OG1 | Initial: OG3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40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8404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Local Velocity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348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Velocity confidence ≥ 0.77 for all clusters
Phase portraits, PCA-space velocity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Full Dataset: UMAP and RNA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5,407 cells | Leiden clustering (19 clusters) | Dynamical model</a:t>
            </a:r>
          </a:p>
        </p:txBody>
      </p:sp>
      <p:pic>
        <p:nvPicPr>
          <p:cNvPr id="5" name="Picture 4" descr="umap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669280" cy="3567094"/>
          </a:xfrm>
          <a:prstGeom prst="rect">
            <a:avLst/>
          </a:prstGeom>
        </p:spPr>
      </p:pic>
      <p:pic>
        <p:nvPicPr>
          <p:cNvPr id="6" name="Picture 5" descr="scvelo_velocity_stream_dynam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943600" cy="4708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Leiden clusters (19 groups)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RNA velocity stream (dynamical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scVelo dynamical model | Gencode vM25 annotation | E17.5 coronal suture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Full Dataset: Latent Time and Splicing Dynamics</a:t>
            </a:r>
          </a:p>
        </p:txBody>
      </p:sp>
      <p:pic>
        <p:nvPicPr>
          <p:cNvPr id="4" name="Picture 3" descr="scvelo_laten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669280" cy="4427134"/>
          </a:xfrm>
          <a:prstGeom prst="rect">
            <a:avLst/>
          </a:prstGeom>
        </p:spPr>
      </p:pic>
      <p:pic>
        <p:nvPicPr>
          <p:cNvPr id="5" name="Picture 4" descr="scvelo_proportions_spliced_propor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943600" cy="1992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Latent time (full dataset)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Spliced / Unspliced proportions per cluster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OG/PO Cluster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Farmer et al. 2021 | Barcode-level identification using metadata labels</a:t>
            </a:r>
          </a:p>
        </p:txBody>
      </p:sp>
      <p:pic>
        <p:nvPicPr>
          <p:cNvPr id="5" name="Picture 4" descr="umap_og_in_full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029200" cy="3446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188720"/>
            <a:ext cx="9144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12070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Cluster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188720"/>
            <a:ext cx="109728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20700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188720"/>
            <a:ext cx="292608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2070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Cell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0" y="1188720"/>
            <a:ext cx="2286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12070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Markers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645920"/>
            <a:ext cx="914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41A1C"/>
                </a:solidFill>
              </a:rPr>
              <a:t>OG1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10972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69164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548 cells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645920"/>
            <a:ext cx="29260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6916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Osteoprogenitors (earliest)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0" y="1645920"/>
            <a:ext cx="22860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Erg, Pthlh, Six2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423160"/>
            <a:ext cx="914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246887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0"/>
                </a:solidFill>
              </a:rPr>
              <a:t>OG2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423160"/>
            <a:ext cx="1097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468879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315 cells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2423160"/>
            <a:ext cx="2926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46887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Suture-resident pre-osteoblasts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0" y="242316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246887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Lef1, Inhba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200400"/>
            <a:ext cx="914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32461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DAF4A"/>
                </a:solidFill>
              </a:rPr>
              <a:t>OG3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00400"/>
            <a:ext cx="10972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324612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603 cells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3200400"/>
            <a:ext cx="29260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3246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Periosteal pre-osteoblasts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80" y="3200400"/>
            <a:ext cx="22860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420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Mmp13, Podnl1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977639"/>
            <a:ext cx="914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32120" y="402335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84EA3"/>
                </a:solidFill>
              </a:rPr>
              <a:t>OG4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977639"/>
            <a:ext cx="1097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59" y="4023359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306 cells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3977639"/>
            <a:ext cx="2926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4023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Mature osteoblasts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3977639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44200" y="402335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Ifitm5, Dmp1, Sost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4754880"/>
            <a:ext cx="9144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0" y="48006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7EB8"/>
                </a:solidFill>
              </a:rPr>
              <a:t>PO1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754880"/>
            <a:ext cx="10972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59" y="480060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206 cells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4754880"/>
            <a:ext cx="292608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4800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Periosteal osteoblasts (outer bone)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98480" y="4754880"/>
            <a:ext cx="22860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44200" y="4800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5532120"/>
            <a:ext cx="914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2120" y="55778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5628"/>
                </a:solidFill>
              </a:rPr>
              <a:t>PO2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532120"/>
            <a:ext cx="1097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59" y="557784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39 cells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5532120"/>
            <a:ext cx="2926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26680" y="5577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Periosteal osteoblasts (mature subset)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98480" y="55321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44200" y="5577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48463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F37"/>
                </a:solidFill>
              </a:rPr>
              <a:t>Total: 2,017 E17.5 OG/PO cells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52578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93E46"/>
                </a:solidFill>
              </a:rPr>
              <a:t>Barcodes matched to GSE163693_E15_17_composite_metadata.csv.gz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OG1–4 + PO1–2 location in full UMAP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OG/PO Subset: UMAP and RNA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2,017 cells (OG1–4 + PO1–2) | Re-computed neighbors, UMAP, and velocity | Dynamical model</a:t>
            </a:r>
          </a:p>
        </p:txBody>
      </p:sp>
      <p:pic>
        <p:nvPicPr>
          <p:cNvPr id="5" name="Picture 4" descr="umap_og_exact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669280" cy="3922086"/>
          </a:xfrm>
          <a:prstGeom prst="rect">
            <a:avLst/>
          </a:prstGeom>
        </p:spPr>
      </p:pic>
      <p:pic>
        <p:nvPicPr>
          <p:cNvPr id="6" name="Picture 5" descr="velocity_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943600" cy="4708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OG1–4 + PO1–2 subset UMAP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RNA velocity stream (dynamical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OG1 (red): progenitors | OG2 (orange): suture pre-OB | OG3 (green): periosteal pre-OB | OG4 (purple): mature OB | PO1 (blue): periosteal OB | PO2 (brown): periosteal OB (mature subset)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OG/PO Subset: Latent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Differentiation pseudotime estimated by scVelo dynamical model</a:t>
            </a:r>
          </a:p>
        </p:txBody>
      </p:sp>
      <p:pic>
        <p:nvPicPr>
          <p:cNvPr id="5" name="Picture 4" descr="laten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4427134"/>
          </a:xfrm>
          <a:prstGeom prst="rect">
            <a:avLst/>
          </a:prstGeom>
        </p:spPr>
      </p:pic>
      <p:pic>
        <p:nvPicPr>
          <p:cNvPr id="6" name="Picture 5" descr="og_latent_tim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Latent time on UMAP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93E46"/>
                </a:solidFill>
              </a:rPr>
              <a:t>Latent time distribution per OG/PO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0 = earliest (progenitor), 1 = latest (mature osteoblast)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PAGA Topology and CellRank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Bidirectional analysis allowing dedifferentiation (OG4 → OG2)</a:t>
            </a:r>
          </a:p>
        </p:txBody>
      </p:sp>
      <p:pic>
        <p:nvPicPr>
          <p:cNvPr id="5" name="Picture 4" descr="og_paga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4114800" cy="4081210"/>
          </a:xfrm>
          <a:prstGeom prst="rect">
            <a:avLst/>
          </a:prstGeom>
        </p:spPr>
      </p:pic>
      <p:pic>
        <p:nvPicPr>
          <p:cNvPr id="6" name="Picture 5" descr="cr_macro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05840"/>
            <a:ext cx="3840480" cy="3798961"/>
          </a:xfrm>
          <a:prstGeom prst="rect">
            <a:avLst/>
          </a:prstGeom>
        </p:spPr>
      </p:pic>
      <p:pic>
        <p:nvPicPr>
          <p:cNvPr id="7" name="Picture 6" descr="cr_fate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005840"/>
            <a:ext cx="3474720" cy="2910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5074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PAGA graph
(edge width = transition strength)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5074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GPCCA macrostates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5074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Fate probability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CellRank GPCCA | VelocityKernel (80%) + ConnectivityKernel (20%) | Terminal: OG4 + OG1 | Initial: OG3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CellRank: Initial / Terminal States and Fate Probabilities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GPCCA identified OG1 as both initial and terminal state → dedifferentiation signal</a:t>
            </a:r>
          </a:p>
        </p:txBody>
      </p:sp>
      <p:pic>
        <p:nvPicPr>
          <p:cNvPr id="5" name="Picture 4" descr="cr_initi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7772400" cy="3196046"/>
          </a:xfrm>
          <a:prstGeom prst="rect">
            <a:avLst/>
          </a:prstGeom>
        </p:spPr>
      </p:pic>
      <p:pic>
        <p:nvPicPr>
          <p:cNvPr id="6" name="Picture 5" descr="cr_fate_probabi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05840"/>
            <a:ext cx="3840480" cy="1531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120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Initial (left) and terminal (right)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5120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Fate probabilities per cell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5577840"/>
            <a:ext cx="11795760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562356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B3F00"/>
                </a:solidFill>
              </a:rPr>
              <a:t>Key finding: OG4 cells show 73% fate probability toward OG1 direction, suggesting a dedifferentiation pathway from mature osteoblasts to progenitors.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Local Velocity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Grid arrows and phase portraits to distinguish true loop from UMAP projection artifact</a:t>
            </a:r>
          </a:p>
        </p:txBody>
      </p:sp>
      <p:pic>
        <p:nvPicPr>
          <p:cNvPr id="5" name="Picture 4" descr="local_grid_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3249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12064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3E46"/>
                </a:solidFill>
              </a:rPr>
              <a:t>Grid velocity arrows at different densities (density = 0.5 / 1.0 / 2.0)
Locally coherent arrows indicate directional flow, not a true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Velocity Confidence and PCA-Space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Confidence ≥ 0.77 for all clusters | PCA reduces UMAP distortion</a:t>
            </a:r>
          </a:p>
        </p:txBody>
      </p:sp>
      <p:pic>
        <p:nvPicPr>
          <p:cNvPr id="5" name="Picture 4" descr="local_velocity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217920" cy="2535936"/>
          </a:xfrm>
          <a:prstGeom prst="rect">
            <a:avLst/>
          </a:prstGeom>
        </p:spPr>
      </p:pic>
      <p:pic>
        <p:nvPicPr>
          <p:cNvPr id="6" name="Picture 5" descr="pca_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5394960" cy="4433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120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Velocity confidence (left: UMAP, right: boxplot per cluster)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120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3E46"/>
                </a:solidFill>
              </a:rPr>
              <a:t>Velocity stream in PCA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5532120"/>
            <a:ext cx="62179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5504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55504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55504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Median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5897880"/>
            <a:ext cx="6217920" cy="2103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59161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41A1C"/>
                </a:solidFill>
              </a:rPr>
              <a:t>OG1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9161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9161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6117336"/>
            <a:ext cx="62179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61356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7F00"/>
                </a:solidFill>
              </a:rPr>
              <a:t>OG2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61356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61356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6336792"/>
            <a:ext cx="6217920" cy="2103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635507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DAF4A"/>
                </a:solidFill>
              </a:rPr>
              <a:t>OG3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635507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635507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6556248"/>
            <a:ext cx="62179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6574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84EA3"/>
                </a:solidFill>
              </a:rPr>
              <a:t>OG4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6574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6574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6775704"/>
            <a:ext cx="6217920" cy="2103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7939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77EB8"/>
                </a:solidFill>
              </a:rPr>
              <a:t>PO1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67939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7939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0.849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995160"/>
            <a:ext cx="62179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70134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65628"/>
                </a:solidFill>
              </a:rPr>
              <a:t>PO2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70134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0.747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70134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0.788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 Portraits: Spliced vs Unspliced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Diagonal distribution indicates monotonic kinetics (not a true cycle)</a:t>
            </a:r>
          </a:p>
        </p:txBody>
      </p:sp>
      <p:pic>
        <p:nvPicPr>
          <p:cNvPr id="5" name="Picture 4" descr="local_phase_portra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7831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Diagonal: induction/repression (directional flow) | Ellipse: cyclic (true loop) | Top genes by fit_likelihood from dynamical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Differentiation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OG1 (progenitors) → OG2/OG3 (pre-osteoblasts) → OG4 (mature osteoblasts) confirmed by RNA velocity in E17.5 coronal suture.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Bifurcation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PAGA reveals two branches from OG1: suture-resident (OG2, edge=0.77) and periosteal (OG3, edge=0.75), both converging on OG4.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Dedifferentiation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CellRank GPCCA identifies OG1 as a terminal state. OG4 cells show 73% fate probability toward OG1, suggesting dedifferentiation from mature osteoblasts to progenitors.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30352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Loop is a projection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Velocity confidence ≥ 0.77 for all clusters. Phase portraits show diagonal (monotonic) rather than elliptic (cyclic) distribution. The loop in UMAP reflects a Y-shaped bifurcation compressed in 2D.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99"/>
                </a:solidFill>
              </a:rPr>
              <a:t>Data: GSE163693  |  Farmer et al. 2021, Nat Commun 12:4797  |  Tools: scVelo, CellRank, scanpy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